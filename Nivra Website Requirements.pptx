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3" r:id="rId2"/>
    <p:sldId id="259" r:id="rId3"/>
    <p:sldId id="256" r:id="rId4"/>
    <p:sldId id="257" r:id="rId5"/>
    <p:sldId id="260" r:id="rId6"/>
    <p:sldId id="258" r:id="rId7"/>
    <p:sldId id="266" r:id="rId8"/>
    <p:sldId id="262" r:id="rId9"/>
    <p:sldId id="261" r:id="rId10"/>
    <p:sldId id="267" r:id="rId11"/>
    <p:sldId id="264" r:id="rId12"/>
    <p:sldId id="265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779"/>
    <a:srgbClr val="1CC6B2"/>
    <a:srgbClr val="C1F0FF"/>
    <a:srgbClr val="ECFEFB"/>
    <a:srgbClr val="DBFDF8"/>
    <a:srgbClr val="D1F4FF"/>
    <a:srgbClr val="9B7E21"/>
    <a:srgbClr val="4F1112"/>
    <a:srgbClr val="BA9728"/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886" autoAdjust="0"/>
  </p:normalViewPr>
  <p:slideViewPr>
    <p:cSldViewPr snapToGrid="0">
      <p:cViewPr varScale="1">
        <p:scale>
          <a:sx n="79" d="100"/>
          <a:sy n="79" d="100"/>
        </p:scale>
        <p:origin x="730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5/11/2026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5/11/2026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rgbClr val="D4AF37">
                <a:alpha val="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70" y="274638"/>
            <a:ext cx="9753600" cy="706090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597" y="1124744"/>
            <a:ext cx="10149634" cy="504745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79384-7F79-4ABA-8596-28E16401CAFD}" type="datetime1">
              <a:rPr lang="en-US" smtClean="0"/>
              <a:t>5/11/2026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rgbClr val="D4AF37">
                <a:alpha val="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70" y="274638"/>
            <a:ext cx="9753600" cy="706090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79384-7F79-4ABA-8596-28E16401CAFD}" type="datetime1">
              <a:rPr lang="en-US" smtClean="0"/>
              <a:t>5/11/2026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3261D-64C6-1865-DA2B-966DA1853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3949" y="1351721"/>
            <a:ext cx="4851413" cy="474096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15677DB-EFD4-ED7A-4B3F-A129C3046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3149" y="1351721"/>
            <a:ext cx="4851413" cy="474096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644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4DA29-14C8-479B-BD78-6686485CE2ED}" type="datetime1">
              <a:rPr lang="en-US" smtClean="0"/>
              <a:t>5/11/2026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CD3FD-C1D1-44D6-932B-0F90CEA959BC}" type="datetime1">
              <a:rPr lang="en-US" smtClean="0"/>
              <a:t>5/11/2026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0FAF-E396-4291-B2CD-7A7ED946030B}" type="datetime1">
              <a:rPr lang="en-US" smtClean="0"/>
              <a:t>5/11/2026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g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rgbClr val="D4AF37">
                <a:alpha val="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292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133061"/>
            <a:ext cx="9753600" cy="5039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DFC1F19B-56F1-4902-9974-4D9637464C5A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697607-487F-28E3-B3DD-37E1043ED0D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599" y="306421"/>
            <a:ext cx="722307" cy="7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52" r:id="rId3"/>
    <p:sldLayoutId id="2147483654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28DE42-C052-7CAC-A5C4-B1FBC045C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2543C3-C28B-DE07-2811-C2FEB0E63DBD}"/>
              </a:ext>
            </a:extLst>
          </p:cNvPr>
          <p:cNvSpPr/>
          <p:nvPr/>
        </p:nvSpPr>
        <p:spPr>
          <a:xfrm>
            <a:off x="1391479" y="2136913"/>
            <a:ext cx="9283147" cy="24450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WEBSITE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46739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A7A0-63DF-1694-B10E-A4472F6B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BDDC-FC18-3EAC-2CAA-D9214EA1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 End with SSL security</a:t>
            </a:r>
          </a:p>
          <a:p>
            <a:pPr lvl="1"/>
            <a:r>
              <a:rPr lang="en-US" dirty="0"/>
              <a:t>Responsive</a:t>
            </a:r>
          </a:p>
          <a:p>
            <a:pPr lvl="1"/>
            <a:r>
              <a:rPr lang="en-US" dirty="0"/>
              <a:t>Modern with Nivra theme</a:t>
            </a:r>
          </a:p>
          <a:p>
            <a:r>
              <a:rPr lang="en-US" dirty="0"/>
              <a:t>Backend</a:t>
            </a:r>
          </a:p>
          <a:p>
            <a:pPr lvl="1"/>
            <a:r>
              <a:rPr lang="en-US" dirty="0"/>
              <a:t>Node-js or equivalent</a:t>
            </a:r>
          </a:p>
          <a:p>
            <a:pPr lvl="1"/>
            <a:r>
              <a:rPr lang="en-US" dirty="0"/>
              <a:t>Database</a:t>
            </a:r>
          </a:p>
          <a:p>
            <a:pPr lvl="1"/>
            <a:r>
              <a:rPr lang="en-US" dirty="0"/>
              <a:t>Payment Gateway integration</a:t>
            </a:r>
          </a:p>
          <a:p>
            <a:r>
              <a:rPr lang="en-US" dirty="0"/>
              <a:t>Report Generation</a:t>
            </a:r>
          </a:p>
          <a:p>
            <a:pPr lvl="1"/>
            <a:r>
              <a:rPr lang="en-US" dirty="0"/>
              <a:t>All calculated data to be generated at the back-end</a:t>
            </a:r>
          </a:p>
          <a:p>
            <a:pPr lvl="1"/>
            <a:r>
              <a:rPr lang="en-US" dirty="0"/>
              <a:t>Chart creation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26955-16CB-6207-1FF1-75452CCC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9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A069A8-EEA3-AD26-172E-D2C344785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70" y="274638"/>
            <a:ext cx="9753600" cy="706090"/>
          </a:xfrm>
        </p:spPr>
        <p:txBody>
          <a:bodyPr/>
          <a:lstStyle/>
          <a:p>
            <a:r>
              <a:rPr lang="en-US" dirty="0"/>
              <a:t>Web site Layout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D24D93-F460-674C-EF07-1239EAE7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124744"/>
            <a:ext cx="9753600" cy="5047456"/>
          </a:xfrm>
        </p:spPr>
        <p:txBody>
          <a:bodyPr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Financial Tools</a:t>
            </a:r>
          </a:p>
          <a:p>
            <a:r>
              <a:rPr lang="en-US" dirty="0"/>
              <a:t>Testimonials</a:t>
            </a:r>
          </a:p>
          <a:p>
            <a:r>
              <a:rPr lang="en-US" dirty="0"/>
              <a:t>Subscription Plans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396157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5FD3-8220-ED0D-C9EE-3864A502F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1D9FE9-BC11-55DB-5604-53DB2CAC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Decision Making Tools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DD7665-C338-B8FB-51F9-12694EC65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213" y="1124744"/>
            <a:ext cx="10193001" cy="17935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page only displayed in same Tab after login and as per subscription plan</a:t>
            </a:r>
          </a:p>
          <a:p>
            <a:pPr lvl="1"/>
            <a:r>
              <a:rPr lang="en-US" dirty="0"/>
              <a:t>Tool Categories and every Tool has a Tool_ID</a:t>
            </a:r>
          </a:p>
          <a:p>
            <a:pPr lvl="2"/>
            <a:r>
              <a:rPr lang="en-US" dirty="0"/>
              <a:t>Tool_ID used for subscription plan, demo plan and user accessibility</a:t>
            </a:r>
          </a:p>
          <a:p>
            <a:pPr lvl="1"/>
            <a:r>
              <a:rPr lang="en-US" dirty="0"/>
              <a:t>Tool Description and Screenshot of Report</a:t>
            </a:r>
          </a:p>
          <a:p>
            <a:pPr lvl="1"/>
            <a:r>
              <a:rPr lang="en-US" dirty="0"/>
              <a:t>Each Tool will have a report (Generate PDF)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02EA8AE-E964-F8FB-4A88-9718CEEB557B}"/>
              </a:ext>
            </a:extLst>
          </p:cNvPr>
          <p:cNvSpPr txBox="1">
            <a:spLocks/>
          </p:cNvSpPr>
          <p:nvPr/>
        </p:nvSpPr>
        <p:spPr>
          <a:xfrm>
            <a:off x="687351" y="4659553"/>
            <a:ext cx="5884101" cy="1896894"/>
          </a:xfrm>
          <a:prstGeom prst="roundRect">
            <a:avLst>
              <a:gd name="adj" fmla="val 5093"/>
            </a:avLst>
          </a:prstGeom>
          <a:gradFill flip="none" rotWithShape="1">
            <a:gsLst>
              <a:gs pos="0">
                <a:srgbClr val="C1F0FF"/>
              </a:gs>
              <a:gs pos="100000">
                <a:srgbClr val="EFFFFD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chemeClr val="accent1">
                <a:lumMod val="50000"/>
              </a:schemeClr>
            </a:solidFill>
            <a:prstDash val="dash"/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b="1" dirty="0">
                <a:solidFill>
                  <a:srgbClr val="4F1112"/>
                </a:solidFill>
              </a:rPr>
              <a:t>GOAL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Goal with Current Lumpsum – Invest Lumpsum – Compute SIP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Goal with Current Investments – Computes Lumpsum, SIP, Step-Up SIP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Multiple Goals - Corpus assignment to Goals – Computes Lumpsum and SIP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Goal with Periodic Lumpsum investment – Computes SIP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Goal – Computes SIP and StepUp SIP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Goal with existing SIP – Computes SIP</a:t>
            </a:r>
          </a:p>
          <a:p>
            <a: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4F1112"/>
                </a:solidFill>
              </a:rPr>
              <a:t>Goal – Illustrating Power of Compounding</a:t>
            </a:r>
            <a:endParaRPr lang="en-US" sz="1400" dirty="0">
              <a:solidFill>
                <a:srgbClr val="4F111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5CC4-6188-43D3-F579-2BC19FAEC067}"/>
              </a:ext>
            </a:extLst>
          </p:cNvPr>
          <p:cNvSpPr txBox="1">
            <a:spLocks/>
          </p:cNvSpPr>
          <p:nvPr/>
        </p:nvSpPr>
        <p:spPr>
          <a:xfrm>
            <a:off x="7121263" y="4805468"/>
            <a:ext cx="4248000" cy="696003"/>
          </a:xfrm>
          <a:prstGeom prst="roundRect">
            <a:avLst/>
          </a:prstGeom>
          <a:gradFill flip="none" rotWithShape="1">
            <a:gsLst>
              <a:gs pos="0">
                <a:srgbClr val="C1F0FF"/>
              </a:gs>
              <a:gs pos="100000">
                <a:srgbClr val="EFFFFD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chemeClr val="accent1">
                <a:lumMod val="50000"/>
              </a:schemeClr>
            </a:solidFill>
            <a:prstDash val="dash"/>
          </a:ln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sz="1200" b="1">
                <a:solidFill>
                  <a:srgbClr val="4F1112"/>
                </a:solidFill>
              </a:defRPr>
            </a:lvl1pPr>
            <a:lvl2pPr marL="5029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/>
            </a:lvl2pPr>
            <a:lvl3pPr marL="7315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</a:lvl3pPr>
            <a:lvl4pPr marL="9601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4pPr>
            <a:lvl5pPr marL="11887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5pPr>
            <a:lvl6pPr marL="14173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/>
            </a:lvl6pPr>
            <a:lvl7pPr marL="16459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7pPr>
            <a:lvl8pPr marL="18745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8pPr>
            <a:lvl9pPr marL="21031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9pPr>
          </a:lstStyle>
          <a:p>
            <a:r>
              <a:rPr lang="en-US" dirty="0"/>
              <a:t>FAMILY</a:t>
            </a:r>
          </a:p>
          <a:p>
            <a:r>
              <a:rPr lang="en-US" b="0" dirty="0"/>
              <a:t>Child Education Planner</a:t>
            </a:r>
          </a:p>
          <a:p>
            <a:r>
              <a:rPr lang="en-US" b="0" dirty="0"/>
              <a:t>Vehicle Loan Benefit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95AE4F-3B01-8B41-9212-CFAAF2A00BBE}"/>
              </a:ext>
            </a:extLst>
          </p:cNvPr>
          <p:cNvSpPr txBox="1">
            <a:spLocks/>
          </p:cNvSpPr>
          <p:nvPr/>
        </p:nvSpPr>
        <p:spPr>
          <a:xfrm>
            <a:off x="7121263" y="2869664"/>
            <a:ext cx="4248000" cy="683661"/>
          </a:xfrm>
          <a:prstGeom prst="roundRect">
            <a:avLst/>
          </a:prstGeom>
          <a:gradFill flip="none" rotWithShape="1">
            <a:gsLst>
              <a:gs pos="0">
                <a:srgbClr val="C1F0FF"/>
              </a:gs>
              <a:gs pos="100000">
                <a:srgbClr val="EFFFFD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chemeClr val="accent1">
                <a:lumMod val="50000"/>
              </a:schemeClr>
            </a:solidFill>
            <a:prstDash val="dash"/>
          </a:ln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sz="1200" b="1">
                <a:solidFill>
                  <a:srgbClr val="4F1112"/>
                </a:solidFill>
              </a:defRPr>
            </a:lvl1pPr>
            <a:lvl2pPr marL="5029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/>
            </a:lvl2pPr>
            <a:lvl3pPr marL="7315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</a:lvl3pPr>
            <a:lvl4pPr marL="9601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4pPr>
            <a:lvl5pPr marL="11887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5pPr>
            <a:lvl6pPr marL="14173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/>
            </a:lvl6pPr>
            <a:lvl7pPr marL="16459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7pPr>
            <a:lvl8pPr marL="18745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8pPr>
            <a:lvl9pPr marL="21031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9pPr>
          </a:lstStyle>
          <a:p>
            <a:r>
              <a:rPr lang="en-US" dirty="0"/>
              <a:t>RETIREMENT </a:t>
            </a:r>
          </a:p>
          <a:p>
            <a:r>
              <a:rPr lang="en-US" b="0" dirty="0"/>
              <a:t>Financial Health Analysis</a:t>
            </a:r>
          </a:p>
          <a:p>
            <a:r>
              <a:rPr lang="en-US" b="0" dirty="0"/>
              <a:t>FIRE Planner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49723B-3949-A219-C718-4AA7A5939B4D}"/>
              </a:ext>
            </a:extLst>
          </p:cNvPr>
          <p:cNvSpPr txBox="1">
            <a:spLocks/>
          </p:cNvSpPr>
          <p:nvPr/>
        </p:nvSpPr>
        <p:spPr>
          <a:xfrm>
            <a:off x="7085263" y="5573949"/>
            <a:ext cx="4320000" cy="728224"/>
          </a:xfrm>
          <a:prstGeom prst="roundRect">
            <a:avLst/>
          </a:prstGeom>
          <a:gradFill flip="none" rotWithShape="1">
            <a:gsLst>
              <a:gs pos="0">
                <a:srgbClr val="C1F0FF"/>
              </a:gs>
              <a:gs pos="100000">
                <a:srgbClr val="EFFFFD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chemeClr val="accent1">
                <a:lumMod val="50000"/>
              </a:schemeClr>
            </a:solidFill>
            <a:prstDash val="dash"/>
          </a:ln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sz="1200" b="1">
                <a:solidFill>
                  <a:srgbClr val="4F1112"/>
                </a:solidFill>
              </a:defRPr>
            </a:lvl1pPr>
            <a:lvl2pPr marL="5029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/>
            </a:lvl2pPr>
            <a:lvl3pPr marL="7315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</a:lvl3pPr>
            <a:lvl4pPr marL="9601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4pPr>
            <a:lvl5pPr marL="11887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5pPr>
            <a:lvl6pPr marL="14173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/>
            </a:lvl6pPr>
            <a:lvl7pPr marL="16459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7pPr>
            <a:lvl8pPr marL="18745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8pPr>
            <a:lvl9pPr marL="21031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9pPr>
          </a:lstStyle>
          <a:p>
            <a:r>
              <a:rPr lang="en-US" dirty="0"/>
              <a:t>INSURANCE</a:t>
            </a:r>
          </a:p>
          <a:p>
            <a:r>
              <a:rPr lang="en-US" b="0" dirty="0"/>
              <a:t>Insurance IRR</a:t>
            </a:r>
          </a:p>
          <a:p>
            <a:r>
              <a:rPr lang="en-US" b="0" dirty="0"/>
              <a:t>Insurance – Convert to Term Plan + Investment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D4EA8A-95C0-C864-A715-6F5421F87E6A}"/>
              </a:ext>
            </a:extLst>
          </p:cNvPr>
          <p:cNvSpPr txBox="1">
            <a:spLocks/>
          </p:cNvSpPr>
          <p:nvPr/>
        </p:nvSpPr>
        <p:spPr>
          <a:xfrm>
            <a:off x="7121263" y="3608968"/>
            <a:ext cx="4248000" cy="1140436"/>
          </a:xfrm>
          <a:prstGeom prst="roundRect">
            <a:avLst>
              <a:gd name="adj" fmla="val 13436"/>
            </a:avLst>
          </a:prstGeom>
          <a:gradFill flip="none" rotWithShape="1">
            <a:gsLst>
              <a:gs pos="0">
                <a:srgbClr val="C1F0FF"/>
              </a:gs>
              <a:gs pos="100000">
                <a:srgbClr val="EFFFFD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chemeClr val="accent1">
                <a:lumMod val="50000"/>
              </a:schemeClr>
            </a:solidFill>
            <a:prstDash val="dash"/>
          </a:ln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sz="1200" b="1">
                <a:solidFill>
                  <a:srgbClr val="4F1112"/>
                </a:solidFill>
              </a:defRPr>
            </a:lvl1pPr>
            <a:lvl2pPr marL="5029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/>
            </a:lvl2pPr>
            <a:lvl3pPr marL="7315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</a:lvl3pPr>
            <a:lvl4pPr marL="9601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4pPr>
            <a:lvl5pPr marL="11887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5pPr>
            <a:lvl6pPr marL="14173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/>
            </a:lvl6pPr>
            <a:lvl7pPr marL="16459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7pPr>
            <a:lvl8pPr marL="18745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8pPr>
            <a:lvl9pPr marL="21031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9pPr>
          </a:lstStyle>
          <a:p>
            <a:r>
              <a:rPr lang="en-US" dirty="0"/>
              <a:t>LOAN</a:t>
            </a:r>
          </a:p>
          <a:p>
            <a:r>
              <a:rPr lang="en-US" b="0" dirty="0"/>
              <a:t>Loan EMI with Interest Recovery Calculator</a:t>
            </a:r>
          </a:p>
          <a:p>
            <a:r>
              <a:rPr lang="en-US" b="0" dirty="0"/>
              <a:t>Loan – One Extra Payment vs Investment</a:t>
            </a:r>
          </a:p>
          <a:p>
            <a:r>
              <a:rPr lang="en-US" b="0" dirty="0"/>
              <a:t>Loan Restructuring with Interest Recovery</a:t>
            </a:r>
          </a:p>
          <a:p>
            <a:r>
              <a:rPr lang="en-US" b="0" dirty="0"/>
              <a:t>Loan with Extra Yearly Payments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4B34C-0F1E-890A-2C39-A822C867C37F}"/>
              </a:ext>
            </a:extLst>
          </p:cNvPr>
          <p:cNvSpPr txBox="1">
            <a:spLocks/>
          </p:cNvSpPr>
          <p:nvPr/>
        </p:nvSpPr>
        <p:spPr>
          <a:xfrm>
            <a:off x="671179" y="2859924"/>
            <a:ext cx="5880820" cy="1712702"/>
          </a:xfrm>
          <a:prstGeom prst="roundRect">
            <a:avLst>
              <a:gd name="adj" fmla="val 8810"/>
            </a:avLst>
          </a:prstGeom>
          <a:gradFill flip="none" rotWithShape="1">
            <a:gsLst>
              <a:gs pos="0">
                <a:srgbClr val="C1F0FF"/>
              </a:gs>
              <a:gs pos="100000">
                <a:srgbClr val="EFFFFD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chemeClr val="accent1">
                <a:lumMod val="50000"/>
              </a:schemeClr>
            </a:solidFill>
            <a:prstDash val="dash"/>
          </a:ln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4572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sz="1200" b="1">
                <a:solidFill>
                  <a:srgbClr val="4F1112"/>
                </a:solidFill>
              </a:defRPr>
            </a:lvl1pPr>
            <a:lvl2pPr marL="5029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/>
            </a:lvl2pPr>
            <a:lvl3pPr marL="7315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</a:lvl3pPr>
            <a:lvl4pPr marL="9601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4pPr>
            <a:lvl5pPr marL="1188720" indent="-228600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/>
            </a:lvl5pPr>
            <a:lvl6pPr marL="14173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/>
            </a:lvl6pPr>
            <a:lvl7pPr marL="16459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7pPr>
            <a:lvl8pPr marL="18745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8pPr>
            <a:lvl9pPr marL="2103120" indent="-228600">
              <a:spcBef>
                <a:spcPts val="600"/>
              </a:spcBef>
              <a:buSzPct val="80000"/>
              <a:buFont typeface="Arial" pitchFamily="34" charset="0"/>
              <a:buChar char="•"/>
              <a:defRPr sz="1600" baseline="0"/>
            </a:lvl9pPr>
          </a:lstStyle>
          <a:p>
            <a:r>
              <a:rPr lang="en-US" dirty="0"/>
              <a:t>STANDARD</a:t>
            </a:r>
          </a:p>
          <a:p>
            <a:r>
              <a:rPr lang="en-US" b="0" dirty="0"/>
              <a:t>Mutual Fund vs Fixed Deposit</a:t>
            </a:r>
          </a:p>
          <a:p>
            <a:r>
              <a:rPr lang="en-US" b="0" dirty="0"/>
              <a:t>One-Time Investment</a:t>
            </a:r>
          </a:p>
          <a:p>
            <a:r>
              <a:rPr lang="en-US" b="0" dirty="0"/>
              <a:t>Periodic Lumpsum Investment</a:t>
            </a:r>
          </a:p>
          <a:p>
            <a:r>
              <a:rPr lang="en-US" b="0" dirty="0"/>
              <a:t>SIP Calculator</a:t>
            </a:r>
          </a:p>
          <a:p>
            <a:r>
              <a:rPr lang="en-US" b="0" dirty="0"/>
              <a:t>SIP Step-Up Calculator</a:t>
            </a:r>
          </a:p>
          <a:p>
            <a:r>
              <a:rPr lang="en-US" b="0" dirty="0"/>
              <a:t>SIP Required for Multiple Withdrawals</a:t>
            </a:r>
          </a:p>
        </p:txBody>
      </p:sp>
    </p:spTree>
    <p:extLst>
      <p:ext uri="{BB962C8B-B14F-4D97-AF65-F5344CB8AC3E}">
        <p14:creationId xmlns:p14="http://schemas.microsoft.com/office/powerpoint/2010/main" val="83596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89B3-3C9F-CCE3-AFB2-54776745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3C2EE-0F17-AFE4-6931-48020330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3412F-DC6A-57FD-B5D6-2B8CCC239A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Subscription Plan Options</a:t>
            </a:r>
          </a:p>
          <a:p>
            <a:r>
              <a:rPr lang="en-US" dirty="0"/>
              <a:t>Subscriber Profile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Company</a:t>
            </a:r>
          </a:p>
          <a:p>
            <a:pPr lvl="1"/>
            <a:r>
              <a:rPr lang="en-US" dirty="0"/>
              <a:t>Phone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Address</a:t>
            </a:r>
          </a:p>
          <a:p>
            <a:r>
              <a:rPr lang="en-US" dirty="0"/>
              <a:t>White Label Components</a:t>
            </a:r>
          </a:p>
          <a:p>
            <a:pPr lvl="1"/>
            <a:r>
              <a:rPr lang="en-US" dirty="0"/>
              <a:t>Logo – Specify size (check while uploading or resize automatically)</a:t>
            </a:r>
          </a:p>
          <a:p>
            <a:pPr lvl="1"/>
            <a:r>
              <a:rPr lang="en-US" dirty="0"/>
              <a:t>Company Name</a:t>
            </a:r>
          </a:p>
          <a:p>
            <a:pPr lvl="1"/>
            <a:r>
              <a:rPr lang="en-US" dirty="0"/>
              <a:t>Company Address</a:t>
            </a:r>
          </a:p>
          <a:p>
            <a:pPr lvl="1"/>
            <a:r>
              <a:rPr lang="en-US" dirty="0"/>
              <a:t>Custom Disclaimer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CD940-C173-A53F-7F4C-C80AEEBD01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</a:t>
            </a:r>
          </a:p>
          <a:p>
            <a:pPr lvl="1"/>
            <a:r>
              <a:rPr lang="en-US" dirty="0"/>
              <a:t>Number of reports generated by month – User Level</a:t>
            </a:r>
          </a:p>
          <a:p>
            <a:pPr lvl="1"/>
            <a:r>
              <a:rPr lang="en-US" dirty="0"/>
              <a:t>History by tool usage detailed inputs – User level</a:t>
            </a:r>
          </a:p>
          <a:p>
            <a:r>
              <a:rPr lang="en-US" dirty="0"/>
              <a:t>Subscription Plan</a:t>
            </a:r>
          </a:p>
          <a:p>
            <a:pPr lvl="1"/>
            <a:r>
              <a:rPr lang="en-US" dirty="0"/>
              <a:t>Historical</a:t>
            </a:r>
          </a:p>
          <a:p>
            <a:pPr lvl="1"/>
            <a:r>
              <a:rPr lang="en-US" dirty="0"/>
              <a:t>Payment History</a:t>
            </a:r>
          </a:p>
          <a:p>
            <a:pPr lvl="1"/>
            <a:r>
              <a:rPr lang="en-US" dirty="0"/>
              <a:t>Current Active – No. of Active Licenses (Each License will need a unique mobile/email_id)</a:t>
            </a:r>
          </a:p>
          <a:p>
            <a:pPr lvl="2"/>
            <a:r>
              <a:rPr lang="en-US" dirty="0"/>
              <a:t>Exp. Date</a:t>
            </a:r>
          </a:p>
          <a:p>
            <a:r>
              <a:rPr lang="en-US" dirty="0"/>
              <a:t>Testimonials</a:t>
            </a:r>
          </a:p>
        </p:txBody>
      </p:sp>
    </p:spTree>
    <p:extLst>
      <p:ext uri="{BB962C8B-B14F-4D97-AF65-F5344CB8AC3E}">
        <p14:creationId xmlns:p14="http://schemas.microsoft.com/office/powerpoint/2010/main" val="265964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AC62-8643-5B8D-3068-F41E4B94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0A372B-781C-C993-7DE1-549BBDBC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LOGIN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E30B5D-82F3-5B0B-CC9B-38AB3F1E8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Login (OTP via email), mobile &amp; email verification OTP</a:t>
            </a:r>
          </a:p>
          <a:p>
            <a:r>
              <a:rPr lang="en-US" dirty="0"/>
              <a:t>Display new page with all tools, but enable only available tools</a:t>
            </a:r>
          </a:p>
          <a:p>
            <a:r>
              <a:rPr lang="en-US" dirty="0"/>
              <a:t>Tools should have Custom Logo and Disclaimer</a:t>
            </a:r>
          </a:p>
          <a:p>
            <a:r>
              <a:rPr lang="en-US" dirty="0"/>
              <a:t>Reports (PDF) -&gt; Preview/Print/Save</a:t>
            </a:r>
          </a:p>
          <a:p>
            <a:pPr lvl="1"/>
            <a:r>
              <a:rPr lang="en-US" dirty="0"/>
              <a:t>Must have </a:t>
            </a:r>
            <a:r>
              <a:rPr lang="en-US"/>
              <a:t>all white-label </a:t>
            </a:r>
            <a:r>
              <a:rPr lang="en-US" dirty="0"/>
              <a:t>components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4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0E1A-11A6-D05A-70F8-D3688DF8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05160-4F5B-DC41-9A24-EB5C9CE9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SUBSCRIBER (Admin) LOGIN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71AFEC-118C-7622-CE82-25FEFF0E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Login (OTP via email), mobile &amp; email verification OTP</a:t>
            </a:r>
          </a:p>
          <a:p>
            <a:r>
              <a:rPr lang="en-US"/>
              <a:t>Administrative</a:t>
            </a:r>
          </a:p>
          <a:p>
            <a:pPr lvl="1"/>
            <a:r>
              <a:rPr lang="en-US"/>
              <a:t>Add/Remove User (Limit to license purchased)</a:t>
            </a:r>
          </a:p>
          <a:p>
            <a:pPr lvl="1"/>
            <a:r>
              <a:rPr lang="en-US"/>
              <a:t>Reset password by User</a:t>
            </a:r>
          </a:p>
          <a:p>
            <a:pPr lvl="1"/>
            <a:r>
              <a:rPr lang="en-US"/>
              <a:t>Define tools enabled by user</a:t>
            </a:r>
          </a:p>
          <a:p>
            <a:pPr lvl="1"/>
            <a:r>
              <a:rPr lang="en-US"/>
              <a:t>Run usage reports</a:t>
            </a:r>
            <a:endParaRPr lang="en-US" dirty="0"/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3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206F4E-FADE-71DE-DFA5-EB2516B4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Subscription Plans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85DC38-EB46-80D5-4086-C8349C92F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Multiple plan options are available that are suited for each advisor. </a:t>
            </a:r>
          </a:p>
          <a:p>
            <a:pPr lvl="1"/>
            <a:r>
              <a:rPr lang="en-US" dirty="0"/>
              <a:t>1 year </a:t>
            </a:r>
            <a:r>
              <a:rPr lang="en-US"/>
              <a:t>plan (</a:t>
            </a:r>
            <a:r>
              <a:rPr lang="en-US">
                <a:solidFill>
                  <a:srgbClr val="FF0000"/>
                </a:solidFill>
              </a:rPr>
              <a:t>Standard, Premium)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3 year plan (Basic, Premium)</a:t>
            </a:r>
          </a:p>
          <a:p>
            <a:pPr lvl="1"/>
            <a:r>
              <a:rPr lang="en-US"/>
              <a:t>Trial </a:t>
            </a:r>
            <a:r>
              <a:rPr lang="en-US" dirty="0"/>
              <a:t>– </a:t>
            </a:r>
            <a:r>
              <a:rPr lang="en-US"/>
              <a:t>1 Week (No white-label, subset of calculations shown, some tools)</a:t>
            </a:r>
            <a:endParaRPr lang="en-US" dirty="0"/>
          </a:p>
          <a:p>
            <a:r>
              <a:rPr lang="en-US" b="1"/>
              <a:t>Standard</a:t>
            </a:r>
            <a:endParaRPr lang="en-US" b="1" dirty="0"/>
          </a:p>
          <a:p>
            <a:pPr lvl="1"/>
            <a:r>
              <a:rPr lang="en-US"/>
              <a:t>No white-label</a:t>
            </a:r>
          </a:p>
          <a:p>
            <a:pPr lvl="1"/>
            <a:r>
              <a:rPr lang="en-US"/>
              <a:t>Limited reports per day and per month</a:t>
            </a:r>
            <a:endParaRPr lang="en-US" dirty="0">
              <a:latin typeface="Aptos Black" panose="020B0004020202020204" pitchFamily="34" charset="0"/>
            </a:endParaRPr>
          </a:p>
          <a:p>
            <a:r>
              <a:rPr lang="en-US" b="1" dirty="0"/>
              <a:t>Premium</a:t>
            </a:r>
          </a:p>
          <a:p>
            <a:pPr lvl="1"/>
            <a:r>
              <a:rPr lang="en-US" dirty="0"/>
              <a:t>White-Label, All Tools</a:t>
            </a:r>
          </a:p>
          <a:p>
            <a:pPr lvl="1"/>
            <a:r>
              <a:rPr lang="en-US" dirty="0"/>
              <a:t>Unlimited reports per month</a:t>
            </a:r>
          </a:p>
          <a:p>
            <a:r>
              <a:rPr lang="en-US" dirty="0"/>
              <a:t>No. of Licenses – Each License will require a </a:t>
            </a:r>
            <a:r>
              <a:rPr lang="en-US"/>
              <a:t>unique email of OTP</a:t>
            </a:r>
            <a:r>
              <a:rPr lang="en-US" dirty="0">
                <a:latin typeface="Century" panose="02040604050505020304" pitchFamily="18" charset="0"/>
              </a:rPr>
              <a:t>.</a:t>
            </a:r>
          </a:p>
          <a:p>
            <a:r>
              <a:rPr lang="en-US" dirty="0"/>
              <a:t>Include GST Charges 18%</a:t>
            </a:r>
          </a:p>
          <a:p>
            <a:r>
              <a:rPr lang="en-US" dirty="0"/>
              <a:t>Each login is for a single person only. No refunds.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6B59-537E-3639-6FC8-DE6A9E25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8B326F-B3B5-14F0-FE48-E53ACED8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GATEWAY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B11D79-D1F8-BA46-5B57-2447C144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Payment Gateway</a:t>
            </a:r>
          </a:p>
          <a:p>
            <a:pPr lvl="1"/>
            <a:r>
              <a:rPr lang="en-US" dirty="0"/>
              <a:t>As per RBI rules</a:t>
            </a:r>
          </a:p>
          <a:p>
            <a:r>
              <a:rPr lang="en-US" dirty="0"/>
              <a:t>Payment Options</a:t>
            </a:r>
          </a:p>
          <a:p>
            <a:pPr lvl="1"/>
            <a:r>
              <a:rPr lang="en-US" dirty="0"/>
              <a:t>NetBanking</a:t>
            </a:r>
          </a:p>
          <a:p>
            <a:pPr lvl="1"/>
            <a:r>
              <a:rPr lang="en-US" dirty="0"/>
              <a:t>UPI</a:t>
            </a:r>
          </a:p>
          <a:p>
            <a:pPr lvl="1"/>
            <a:r>
              <a:rPr lang="en-US" dirty="0"/>
              <a:t>Credit Card (+</a:t>
            </a:r>
            <a:r>
              <a:rPr lang="en-US"/>
              <a:t>2%)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2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1865-25B4-A70F-F290-75F70D96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Nivra Admin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88B80-35BD-9E18-C0EE-340EE6088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Manage Subscribers/Users</a:t>
            </a:r>
          </a:p>
          <a:p>
            <a:r>
              <a:rPr lang="en-US"/>
              <a:t>Reports</a:t>
            </a:r>
          </a:p>
          <a:p>
            <a:pPr lvl="1"/>
            <a:r>
              <a:rPr lang="en-US"/>
              <a:t>Subscription Plan – Summary and Subscribers</a:t>
            </a:r>
          </a:p>
          <a:p>
            <a:pPr lvl="1"/>
            <a:r>
              <a:rPr lang="en-US"/>
              <a:t>Subscriber/Subscription Plan report</a:t>
            </a:r>
          </a:p>
          <a:p>
            <a:pPr lvl="1"/>
            <a:r>
              <a:rPr lang="en-US"/>
              <a:t>Tool Usage</a:t>
            </a:r>
          </a:p>
          <a:p>
            <a:pPr lvl="1"/>
            <a:r>
              <a:rPr lang="en-US"/>
              <a:t>Metadata for marketing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D1384-4A71-3190-6A45-43067D1D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52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7A744-71B0-8F8A-A582-C41437C1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F78A-A8E5-364C-1860-A34C7464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Apply for Domain nivrafintech.com &amp; nivratools.com</a:t>
            </a:r>
          </a:p>
          <a:p>
            <a:r>
              <a:rPr lang="en-US" dirty="0"/>
              <a:t>Subscribe for webhosting – 3 years</a:t>
            </a:r>
          </a:p>
          <a:p>
            <a:pPr lvl="1"/>
            <a:r>
              <a:rPr lang="en-US" dirty="0"/>
              <a:t>10GB or more</a:t>
            </a:r>
          </a:p>
          <a:p>
            <a:pPr lvl="1"/>
            <a:r>
              <a:rPr lang="en-US" dirty="0"/>
              <a:t>At least 1 email ID</a:t>
            </a:r>
          </a:p>
          <a:p>
            <a:pPr lvl="1"/>
            <a:r>
              <a:rPr lang="en-US" dirty="0"/>
              <a:t>Node.js</a:t>
            </a:r>
          </a:p>
          <a:p>
            <a:pPr lvl="1"/>
            <a:r>
              <a:rPr lang="en-US" dirty="0"/>
              <a:t>DB Support</a:t>
            </a:r>
          </a:p>
          <a:p>
            <a:r>
              <a:rPr lang="en-US" dirty="0"/>
              <a:t>Branding?</a:t>
            </a:r>
          </a:p>
          <a:p>
            <a:r>
              <a:rPr lang="en-US" dirty="0"/>
              <a:t>Bank Account for linking to payment gateway?</a:t>
            </a:r>
          </a:p>
          <a:p>
            <a:r>
              <a:rPr lang="en-US" dirty="0"/>
              <a:t>Complete AI Configuration???</a:t>
            </a:r>
          </a:p>
          <a:p>
            <a:r>
              <a:rPr lang="en-US" dirty="0"/>
              <a:t>Generate website</a:t>
            </a:r>
          </a:p>
          <a:p>
            <a:r>
              <a:rPr lang="en-US" dirty="0"/>
              <a:t>Generate default Tools page, with description and screenshot of report for each tool.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7C89E-00D3-1DB0-AF1E-DFA9140D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0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45B-F1C5-4C28-35CE-FCFC9042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E5602-E4E9-C57A-7DB6-09A50883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Website - Laptop, Mobile, Tablet</a:t>
            </a:r>
          </a:p>
          <a:p>
            <a:r>
              <a:rPr lang="en-US" dirty="0"/>
              <a:t>No Subscription – Access</a:t>
            </a:r>
          </a:p>
          <a:p>
            <a:r>
              <a:rPr lang="en-US" dirty="0"/>
              <a:t>Sign up for each plan separately and test</a:t>
            </a:r>
          </a:p>
          <a:p>
            <a:r>
              <a:rPr lang="en-US" dirty="0"/>
              <a:t>Edit Profile of a subscriber</a:t>
            </a:r>
          </a:p>
          <a:p>
            <a:r>
              <a:rPr lang="en-US" dirty="0"/>
              <a:t>Test Payment Gateway, all payment methods</a:t>
            </a:r>
          </a:p>
          <a:p>
            <a:r>
              <a:rPr lang="en-US" dirty="0"/>
              <a:t>Generate Report for every tool</a:t>
            </a:r>
          </a:p>
          <a:p>
            <a:r>
              <a:rPr lang="en-US" dirty="0"/>
              <a:t>Check access when subscription has expired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7B458-B72B-A451-B214-8E6FA7C2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2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91_win32_fixed.potx" id="{67E1CE12-4E7F-4E00-8450-70E8A44C0BA6}" vid="{5B359CD9-B23F-44EB-BBF8-9808683E469B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4265</TotalTime>
  <Words>655</Words>
  <Application>Microsoft Office PowerPoint</Application>
  <PresentationFormat>Custom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Black</vt:lpstr>
      <vt:lpstr>Arial</vt:lpstr>
      <vt:lpstr>Century</vt:lpstr>
      <vt:lpstr>Century Gothic</vt:lpstr>
      <vt:lpstr>World Presentation 16x9</vt:lpstr>
      <vt:lpstr>PowerPoint Presentation</vt:lpstr>
      <vt:lpstr>High LEVEL REQUIREMENTS</vt:lpstr>
      <vt:lpstr>Web site Layout</vt:lpstr>
      <vt:lpstr>Decision Making Tools </vt:lpstr>
      <vt:lpstr>Database</vt:lpstr>
      <vt:lpstr>USER LOGIN</vt:lpstr>
      <vt:lpstr>SUBSCRIBER (Admin) LOGIN</vt:lpstr>
      <vt:lpstr>Subscription Plans</vt:lpstr>
      <vt:lpstr>PAYMENT GATEWAY</vt:lpstr>
      <vt:lpstr>Nivra Admin Page</vt:lpstr>
      <vt:lpstr>To DO List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Nivra Fintech</dc:title>
  <dc:creator>Opinder Jain</dc:creator>
  <cp:lastModifiedBy>Sasmith Reddi</cp:lastModifiedBy>
  <cp:revision>76</cp:revision>
  <dcterms:created xsi:type="dcterms:W3CDTF">2025-04-16T04:45:49Z</dcterms:created>
  <dcterms:modified xsi:type="dcterms:W3CDTF">2026-05-11T12:10:44Z</dcterms:modified>
</cp:coreProperties>
</file>